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3" r:id="rId10"/>
    <p:sldId id="264" r:id="rId11"/>
    <p:sldId id="267" r:id="rId12"/>
    <p:sldId id="268" r:id="rId13"/>
    <p:sldId id="262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042D42-818C-6464-0D0D-7891EA6D60BE}" v="136" dt="2026-04-26T12:05:02.482"/>
    <p1510:client id="{1C6B42FB-2E21-EA5E-05E3-431DBFBA1567}" v="470" dt="2026-04-27T00:07:58.880"/>
    <p1510:client id="{5D84599D-99C9-4118-B791-AE6209D299B0}" v="9" dt="2026-04-27T00:02:17.867"/>
    <p1510:client id="{8F3F3932-D14E-E670-7D70-F25FC8F1E27F}" v="3908" dt="2026-04-26T23:48:51.7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lefram.github.io/posts/Basic-inverse-kinematics-in-Mujoco" TargetMode="External"/><Relationship Id="rId2" Type="http://schemas.openxmlformats.org/officeDocument/2006/relationships/hyperlink" Target="https://colab.research.google.com/github/google-deepmind/mujoco/blob/main/python/tutorial.ipynb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obotics101-viscircuit.web.app/robotics/dh-mode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ea typeface="+mj-lt"/>
                <a:cs typeface="+mj-lt"/>
              </a:rPr>
              <a:t>Kinematic Analysis, Modeling, and Inverse Kinematics for a 6-DOF Manipulator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5718" y="3602038"/>
            <a:ext cx="9642282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b="1">
              <a:solidFill>
                <a:srgbClr val="666666"/>
              </a:solidFill>
              <a:highlight>
                <a:srgbClr val="FFFFFF"/>
              </a:highlight>
            </a:endParaRPr>
          </a:p>
          <a:p>
            <a:r>
              <a:rPr lang="en-US" b="1">
                <a:solidFill>
                  <a:srgbClr val="666666"/>
                </a:solidFill>
                <a:highlight>
                  <a:srgbClr val="FFFFFF"/>
                </a:highlight>
              </a:rPr>
              <a:t>EN.535.630.81</a:t>
            </a:r>
            <a:endParaRPr lang="en-US"/>
          </a:p>
          <a:p>
            <a:r>
              <a:rPr lang="en-US" b="1">
                <a:solidFill>
                  <a:srgbClr val="666666"/>
                </a:solidFill>
                <a:highlight>
                  <a:srgbClr val="FFFFFF"/>
                </a:highlight>
                <a:ea typeface="+mn-lt"/>
                <a:cs typeface="+mn-lt"/>
              </a:rPr>
              <a:t>Theo </a:t>
            </a:r>
            <a:r>
              <a:rPr lang="en-US" b="1" err="1">
                <a:solidFill>
                  <a:srgbClr val="666666"/>
                </a:solidFill>
                <a:highlight>
                  <a:srgbClr val="FFFFFF"/>
                </a:highlight>
                <a:ea typeface="+mn-lt"/>
                <a:cs typeface="+mn-lt"/>
              </a:rPr>
              <a:t>Dardia</a:t>
            </a:r>
            <a:r>
              <a:rPr lang="en-US" b="1">
                <a:solidFill>
                  <a:srgbClr val="666666"/>
                </a:solidFill>
                <a:highlight>
                  <a:srgbClr val="FFFFFF"/>
                </a:highlight>
                <a:ea typeface="+mn-lt"/>
                <a:cs typeface="+mn-lt"/>
              </a:rPr>
              <a:t> | Savari Datta | Demetrius </a:t>
            </a:r>
            <a:r>
              <a:rPr lang="en-US" b="1" err="1">
                <a:solidFill>
                  <a:srgbClr val="666666"/>
                </a:solidFill>
                <a:highlight>
                  <a:srgbClr val="FFFFFF"/>
                </a:highlight>
                <a:ea typeface="+mn-lt"/>
                <a:cs typeface="+mn-lt"/>
              </a:rPr>
              <a:t>Rauck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7748A-6FC3-6F00-AE58-98445851F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err="1">
                <a:ea typeface="+mj-lt"/>
                <a:cs typeface="+mj-lt"/>
              </a:rPr>
              <a:t>Denavit-Hartenberg</a:t>
            </a:r>
            <a:r>
              <a:rPr lang="en-US">
                <a:ea typeface="+mj-lt"/>
                <a:cs typeface="+mj-lt"/>
              </a:rPr>
              <a:t> (DH)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7178F-9FDE-EA6B-3FB3-5EE007025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43601" cy="4539697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>
                <a:ea typeface="+mn-lt"/>
                <a:cs typeface="+mn-lt"/>
              </a:rPr>
              <a:t>We can define a transformation from one link (prismatic or revolute) to another using four parameters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a – link length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α </a:t>
            </a:r>
            <a:r>
              <a:rPr lang="en-US" sz="2500">
                <a:ea typeface="+mn-lt"/>
                <a:cs typeface="+mn-lt"/>
              </a:rPr>
              <a:t>– </a:t>
            </a:r>
            <a:r>
              <a:rPr lang="en-US">
                <a:ea typeface="+mn-lt"/>
                <a:cs typeface="+mn-lt"/>
              </a:rPr>
              <a:t>link twist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d – link offset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θ </a:t>
            </a:r>
            <a:r>
              <a:rPr lang="en-US" sz="2500">
                <a:ea typeface="+mn-lt"/>
                <a:cs typeface="+mn-lt"/>
              </a:rPr>
              <a:t>–</a:t>
            </a:r>
            <a:r>
              <a:rPr lang="en-US">
                <a:ea typeface="+mn-lt"/>
                <a:cs typeface="+mn-lt"/>
              </a:rPr>
              <a:t> joint angle</a:t>
            </a:r>
          </a:p>
          <a:p>
            <a:r>
              <a:rPr lang="en-US">
                <a:ea typeface="+mn-lt"/>
                <a:cs typeface="+mn-lt"/>
              </a:rPr>
              <a:t>Since the homogeneous transformation matrix is a function of a single variable (the link can either be revolute or prismatic), three of the above four quantities are constant for a given link, while the fourth parameter, θ for a revolute joint and d for a prismatic joint, is the joint variable (denoted by q).</a:t>
            </a:r>
            <a:endParaRPr lang="en-US"/>
          </a:p>
        </p:txBody>
      </p:sp>
      <p:pic>
        <p:nvPicPr>
          <p:cNvPr id="6" name="Picture 5" descr="JJ&#10;">
            <a:extLst>
              <a:ext uri="{FF2B5EF4-FFF2-40B4-BE49-F238E27FC236}">
                <a16:creationId xmlns:a16="http://schemas.microsoft.com/office/drawing/2014/main" id="{459536A8-9172-F65A-5A2D-0A0ADB0BB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7598" y="1434744"/>
            <a:ext cx="3865973" cy="3080963"/>
          </a:xfrm>
          <a:prstGeom prst="rect">
            <a:avLst/>
          </a:prstGeom>
        </p:spPr>
      </p:pic>
      <p:pic>
        <p:nvPicPr>
          <p:cNvPr id="4" name="Picture 3" descr="A group of black text&#10;&#10;AI-generated content may be incorrect.">
            <a:extLst>
              <a:ext uri="{FF2B5EF4-FFF2-40B4-BE49-F238E27FC236}">
                <a16:creationId xmlns:a16="http://schemas.microsoft.com/office/drawing/2014/main" id="{AE58D69D-BFF7-E49B-2C93-3D511B028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3633" y="4864545"/>
            <a:ext cx="4533900" cy="14954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E7D4D4-4886-29DF-4EA3-BCCA77CE6C35}"/>
              </a:ext>
            </a:extLst>
          </p:cNvPr>
          <p:cNvSpPr txBox="1"/>
          <p:nvPr/>
        </p:nvSpPr>
        <p:spPr>
          <a:xfrm>
            <a:off x="7945347" y="4512067"/>
            <a:ext cx="3407595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50"/>
              <a:t>Coordinate Transformation from link 0 to link 1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186017-5D73-8AE1-5E00-865C722651E6}"/>
              </a:ext>
            </a:extLst>
          </p:cNvPr>
          <p:cNvSpPr txBox="1"/>
          <p:nvPr/>
        </p:nvSpPr>
        <p:spPr>
          <a:xfrm>
            <a:off x="7936785" y="6361415"/>
            <a:ext cx="3407595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50"/>
              <a:t>General Homogeneous Transformation Matrix for link </a:t>
            </a:r>
            <a:r>
              <a:rPr lang="en-US" sz="1050" err="1"/>
              <a:t>i</a:t>
            </a:r>
            <a:r>
              <a:rPr lang="en-US" sz="1050"/>
              <a:t> to link i+1</a:t>
            </a:r>
          </a:p>
        </p:txBody>
      </p:sp>
    </p:spTree>
    <p:extLst>
      <p:ext uri="{BB962C8B-B14F-4D97-AF65-F5344CB8AC3E}">
        <p14:creationId xmlns:p14="http://schemas.microsoft.com/office/powerpoint/2010/main" val="439366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84FFB-F9DC-93E3-A4A6-AA41909F3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Forward Kinematics &amp; The Jacobian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E7975-F8A9-84C6-2EC1-2E5D909B8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Using the resulting homogeneous transformation</a:t>
            </a:r>
            <a:r>
              <a:rPr lang="en-US"/>
              <a:t> matrices derived from the DH parameters (joint variables) of a manipulator, we can also describe the motion (linear and angular velocities) of its links in the global frame</a:t>
            </a:r>
          </a:p>
          <a:p>
            <a:r>
              <a:rPr lang="en-US"/>
              <a:t>The 6xn Jacobian (J) describes the kinematic transformations from states (positions and velocities) in the body coordinate system to the global system </a:t>
            </a:r>
          </a:p>
        </p:txBody>
      </p:sp>
      <p:pic>
        <p:nvPicPr>
          <p:cNvPr id="4" name="Picture 3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7118ECEC-55F7-CC5D-B791-F71DE1BD5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7007" y="4916239"/>
            <a:ext cx="2047875" cy="9810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3750FF-9CF9-8B96-ABCF-D704AC28A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737" y="4984391"/>
            <a:ext cx="3438525" cy="9239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421B86-CA93-84DA-4CB2-55B239757A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3938" y="4945897"/>
            <a:ext cx="1581150" cy="923925"/>
          </a:xfrm>
          <a:prstGeom prst="rect">
            <a:avLst/>
          </a:prstGeom>
        </p:spPr>
      </p:pic>
      <p:pic>
        <p:nvPicPr>
          <p:cNvPr id="8" name="Picture 7" descr="A group of letters on a white background&#10;&#10;AI-generated content may be incorrect.">
            <a:extLst>
              <a:ext uri="{FF2B5EF4-FFF2-40B4-BE49-F238E27FC236}">
                <a16:creationId xmlns:a16="http://schemas.microsoft.com/office/drawing/2014/main" id="{D947F47A-7EAF-548A-0C82-13D7EB9942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8890" y="4830513"/>
            <a:ext cx="2990850" cy="11525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3B1C8F5-2051-18C2-69FD-C088F34E3103}"/>
              </a:ext>
            </a:extLst>
          </p:cNvPr>
          <p:cNvSpPr txBox="1"/>
          <p:nvPr/>
        </p:nvSpPr>
        <p:spPr>
          <a:xfrm>
            <a:off x="813370" y="6010381"/>
            <a:ext cx="237161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/>
              <a:t>Linear and angular Jacobians for revolute joint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4938A7-C069-EE56-8038-28F05BAF0E9C}"/>
              </a:ext>
            </a:extLst>
          </p:cNvPr>
          <p:cNvSpPr txBox="1"/>
          <p:nvPr/>
        </p:nvSpPr>
        <p:spPr>
          <a:xfrm>
            <a:off x="3715819" y="6010380"/>
            <a:ext cx="237161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/>
              <a:t>Linear and angular Jacobians for a prismatic joint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B0AC56-FD0F-47C0-6D94-930A3FF345FE}"/>
              </a:ext>
            </a:extLst>
          </p:cNvPr>
          <p:cNvSpPr txBox="1"/>
          <p:nvPr/>
        </p:nvSpPr>
        <p:spPr>
          <a:xfrm>
            <a:off x="6412786" y="6010381"/>
            <a:ext cx="237161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/>
              <a:t>Construction of the 6xn Jacobian</a:t>
            </a:r>
          </a:p>
          <a:p>
            <a:pPr algn="ctr"/>
            <a:r>
              <a:rPr lang="en-US" sz="1200"/>
              <a:t>n: number of links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328B6F-83BC-92C0-C793-630D3EFB718A}"/>
              </a:ext>
            </a:extLst>
          </p:cNvPr>
          <p:cNvSpPr txBox="1"/>
          <p:nvPr/>
        </p:nvSpPr>
        <p:spPr>
          <a:xfrm>
            <a:off x="9409415" y="5984695"/>
            <a:ext cx="237161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/>
              <a:t>Equation relating the Jacobian and the time derivatives of the joint variables to the linear and angular velocity of a link</a:t>
            </a:r>
          </a:p>
        </p:txBody>
      </p:sp>
    </p:spTree>
    <p:extLst>
      <p:ext uri="{BB962C8B-B14F-4D97-AF65-F5344CB8AC3E}">
        <p14:creationId xmlns:p14="http://schemas.microsoft.com/office/powerpoint/2010/main" val="974103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13692-35F1-4170-8AC1-2A6BB13CA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032"/>
            <a:ext cx="10515600" cy="1325563"/>
          </a:xfrm>
        </p:spPr>
        <p:txBody>
          <a:bodyPr/>
          <a:lstStyle/>
          <a:p>
            <a:r>
              <a:rPr lang="en-US"/>
              <a:t>Inverse Kinematics of a 6-DOF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39454-FE80-A160-8DE0-B8304BE0E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8839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For our N-Linked 6-DOF manipulator, solving the inverse kinematics using a closed form solution is unpractical</a:t>
            </a:r>
          </a:p>
          <a:p>
            <a:r>
              <a:rPr lang="en-US">
                <a:ea typeface="+mn-lt"/>
                <a:cs typeface="+mn-lt"/>
              </a:rPr>
              <a:t>An iterative method was used to update the joint variables until the error relative to the desired state was negligible</a:t>
            </a:r>
          </a:p>
          <a:p>
            <a:r>
              <a:rPr lang="en-US">
                <a:ea typeface="+mn-lt"/>
                <a:cs typeface="+mn-lt"/>
              </a:rPr>
              <a:t>The convergence the joint variable solutions can lead to some error in calculation. There are methods of mitigation, like adding damping</a:t>
            </a:r>
          </a:p>
          <a:p>
            <a:pPr lvl="2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However, mitigating such instabilities is unnecessary since the project is fairly straightforward</a:t>
            </a:r>
            <a:endParaRPr lang="en-US"/>
          </a:p>
        </p:txBody>
      </p:sp>
      <p:pic>
        <p:nvPicPr>
          <p:cNvPr id="4" name="Picture 3" descr="A black and white math symbols&#10;&#10;AI-generated content may be incorrect.">
            <a:extLst>
              <a:ext uri="{FF2B5EF4-FFF2-40B4-BE49-F238E27FC236}">
                <a16:creationId xmlns:a16="http://schemas.microsoft.com/office/drawing/2014/main" id="{5FA4F343-A38D-650A-ECF4-3043DFF78E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90" b="-794"/>
          <a:stretch>
            <a:fillRect/>
          </a:stretch>
        </p:blipFill>
        <p:spPr>
          <a:xfrm>
            <a:off x="6563153" y="5069333"/>
            <a:ext cx="2944193" cy="1094468"/>
          </a:xfrm>
          <a:prstGeom prst="rect">
            <a:avLst/>
          </a:prstGeom>
        </p:spPr>
      </p:pic>
      <p:pic>
        <p:nvPicPr>
          <p:cNvPr id="5" name="Picture 4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3DC2318D-DDAA-E7E9-1A34-5BCE8E03A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4044" y="5318701"/>
            <a:ext cx="2771775" cy="7334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FF478B-7D14-0211-C30C-BAFED0CC973B}"/>
              </a:ext>
            </a:extLst>
          </p:cNvPr>
          <p:cNvSpPr txBox="1"/>
          <p:nvPr/>
        </p:nvSpPr>
        <p:spPr>
          <a:xfrm>
            <a:off x="2645596" y="6053190"/>
            <a:ext cx="276546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err="1"/>
              <a:t>Psuedo</a:t>
            </a:r>
            <a:r>
              <a:rPr lang="en-US" sz="1200"/>
              <a:t>-Jacobian (inverse of a non-square matrix)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C02FBC-49FB-EF44-16B0-18803F78AB04}"/>
              </a:ext>
            </a:extLst>
          </p:cNvPr>
          <p:cNvSpPr txBox="1"/>
          <p:nvPr/>
        </p:nvSpPr>
        <p:spPr>
          <a:xfrm>
            <a:off x="6738135" y="5933324"/>
            <a:ext cx="276546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/>
              <a:t>Iterative solution for the desired joint variables</a:t>
            </a:r>
          </a:p>
          <a:p>
            <a:pPr algn="ctr"/>
            <a:r>
              <a:rPr lang="en-US" sz="1200">
                <a:ea typeface="+mn-lt"/>
                <a:cs typeface="+mn-lt"/>
              </a:rPr>
              <a:t>𝛼 is a step size parameter</a:t>
            </a:r>
            <a:endParaRPr lang="en-US"/>
          </a:p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023181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0B319-41D0-DDBD-12BE-D9734C00D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Equations of Motion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24270-2981-0E11-CAEE-4F691B948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In order to explicitly describe the relationship between force and motion of our 6-DOF robotic manipulator, the </a:t>
            </a:r>
            <a:r>
              <a:rPr lang="en-US" err="1">
                <a:ea typeface="+mn-lt"/>
                <a:cs typeface="+mn-lt"/>
              </a:rPr>
              <a:t>Lagrangian</a:t>
            </a:r>
            <a:r>
              <a:rPr lang="en-US">
                <a:ea typeface="+mn-lt"/>
                <a:cs typeface="+mn-lt"/>
              </a:rPr>
              <a:t> of the system must be defined</a:t>
            </a:r>
          </a:p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A6480C-3259-46A2-1A29-F035792FA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5" y="3256426"/>
            <a:ext cx="5200650" cy="619125"/>
          </a:xfrm>
          <a:prstGeom prst="rect">
            <a:avLst/>
          </a:prstGeom>
        </p:spPr>
      </p:pic>
      <p:pic>
        <p:nvPicPr>
          <p:cNvPr id="5" name="Picture 4" descr="A mathematical equation with numbers and symbols&#10;&#10;AI-generated content may be incorrect.">
            <a:extLst>
              <a:ext uri="{FF2B5EF4-FFF2-40B4-BE49-F238E27FC236}">
                <a16:creationId xmlns:a16="http://schemas.microsoft.com/office/drawing/2014/main" id="{6946BCCD-49C1-B576-294A-72D3580A0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982" y="4870806"/>
            <a:ext cx="1971675" cy="609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F1F2D0-26D7-61B7-A85A-78AD90BA24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894" y="4702218"/>
            <a:ext cx="1123950" cy="342900"/>
          </a:xfrm>
          <a:prstGeom prst="rect">
            <a:avLst/>
          </a:prstGeom>
        </p:spPr>
      </p:pic>
      <p:pic>
        <p:nvPicPr>
          <p:cNvPr id="7" name="Picture 6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37FC24D7-CC1F-564C-206B-72F7728A2B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307" y="5045480"/>
            <a:ext cx="1800225" cy="5619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126AF3-89FB-C263-E267-70C6D5FD2CD9}"/>
              </a:ext>
            </a:extLst>
          </p:cNvPr>
          <p:cNvSpPr txBox="1"/>
          <p:nvPr/>
        </p:nvSpPr>
        <p:spPr>
          <a:xfrm>
            <a:off x="470898" y="3938426"/>
            <a:ext cx="5197011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/>
              <a:t>Total kinetic energy of the system</a:t>
            </a:r>
          </a:p>
          <a:p>
            <a:r>
              <a:rPr lang="en-US" sz="1100"/>
              <a:t>m: link mass</a:t>
            </a:r>
          </a:p>
          <a:p>
            <a:r>
              <a:rPr lang="en-US" sz="1100"/>
              <a:t>I: </a:t>
            </a:r>
            <a:r>
              <a:rPr lang="en-US" sz="1100" err="1"/>
              <a:t>interia</a:t>
            </a:r>
            <a:r>
              <a:rPr lang="en-US" sz="1100"/>
              <a:t> tensor of a link</a:t>
            </a:r>
          </a:p>
          <a:p>
            <a:r>
              <a:rPr lang="en-US" sz="1100"/>
              <a:t>R: rotational component of the homogenous trans. matrix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E9EEEF-4714-E0A8-E68E-2900BD9F98E7}"/>
              </a:ext>
            </a:extLst>
          </p:cNvPr>
          <p:cNvSpPr txBox="1"/>
          <p:nvPr/>
        </p:nvSpPr>
        <p:spPr>
          <a:xfrm>
            <a:off x="445212" y="5607976"/>
            <a:ext cx="5197011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/>
              <a:t>Total gravitational potential energy of the system</a:t>
            </a:r>
          </a:p>
          <a:p>
            <a:r>
              <a:rPr lang="en-US" sz="1100"/>
              <a:t>m: link mass</a:t>
            </a:r>
          </a:p>
          <a:p>
            <a:r>
              <a:rPr lang="en-US" sz="1100"/>
              <a:t>g: gravitational constant (constant vector pointing the negative vertical direction)</a:t>
            </a:r>
          </a:p>
          <a:p>
            <a:r>
              <a:rPr lang="en-US" sz="1100" err="1"/>
              <a:t>rci</a:t>
            </a:r>
            <a:r>
              <a:rPr lang="en-US" sz="1100"/>
              <a:t>: point of the link's center of mass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CAEF38-F5B8-8972-6174-641EFF55AF11}"/>
              </a:ext>
            </a:extLst>
          </p:cNvPr>
          <p:cNvSpPr txBox="1"/>
          <p:nvPr/>
        </p:nvSpPr>
        <p:spPr>
          <a:xfrm>
            <a:off x="6378539" y="5607977"/>
            <a:ext cx="5197011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err="1"/>
              <a:t>Defintion</a:t>
            </a:r>
            <a:r>
              <a:rPr lang="en-US" sz="1100"/>
              <a:t> of the </a:t>
            </a:r>
            <a:r>
              <a:rPr lang="en-US" sz="1100" err="1"/>
              <a:t>Lagrangian</a:t>
            </a:r>
            <a:r>
              <a:rPr lang="en-US" sz="1100"/>
              <a:t> equation of motion for each set of joint variables</a:t>
            </a:r>
            <a:endParaRPr lang="en-US"/>
          </a:p>
          <a:p>
            <a:r>
              <a:rPr lang="en-US" sz="1100">
                <a:latin typeface="Aptos"/>
                <a:ea typeface="Calibri"/>
                <a:cs typeface="Calibri"/>
              </a:rPr>
              <a:t>τ: generalized external force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844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8BA95-75BF-3E3A-EE01-368F78512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Visualizing the 6-DOF with </a:t>
            </a:r>
            <a:r>
              <a:rPr lang="en-US" err="1"/>
              <a:t>Mujoco</a:t>
            </a:r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B8549-D2B0-7A52-7ED3-D74F7B54A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30411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err="1">
                <a:solidFill>
                  <a:srgbClr val="000000"/>
                </a:solidFill>
                <a:latin typeface="Aptos"/>
              </a:rPr>
              <a:t>MuJoCo</a:t>
            </a:r>
            <a:r>
              <a:rPr lang="en-US">
                <a:solidFill>
                  <a:srgbClr val="000000"/>
                </a:solidFill>
                <a:latin typeface="Aptos"/>
              </a:rPr>
              <a:t> is a user-friendly, free, and open source physics engine that constructs, renders, and animates physical simulations – perfect for visualizing our robotic manipulator</a:t>
            </a:r>
            <a:endParaRPr lang="en-US"/>
          </a:p>
          <a:p>
            <a:r>
              <a:rPr lang="en-US"/>
              <a:t>We visualized our linked manipulator using an XML template</a:t>
            </a:r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/>
              <a:t>We wrote a script that digests a DH table and returns a formatted xml template that tells the rendering engine where each link is in relation to the last link and how that link is oriented</a:t>
            </a:r>
          </a:p>
          <a:p>
            <a:endParaRPr lang="en-US"/>
          </a:p>
          <a:p>
            <a:endParaRPr lang="en-US"/>
          </a:p>
        </p:txBody>
      </p:sp>
      <p:pic>
        <p:nvPicPr>
          <p:cNvPr id="5" name="Picture 4" descr="A blue and orange pipes on a checkered surface&#10;&#10;AI-generated content may be incorrect.">
            <a:extLst>
              <a:ext uri="{FF2B5EF4-FFF2-40B4-BE49-F238E27FC236}">
                <a16:creationId xmlns:a16="http://schemas.microsoft.com/office/drawing/2014/main" id="{51094D2D-5C95-2D49-DC30-3DF480FF5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2967" y="2225111"/>
            <a:ext cx="4360521" cy="402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613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80CF9-53D9-C964-0479-C65C40DB1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Mujoco</a:t>
            </a:r>
            <a:r>
              <a:rPr lang="en-US"/>
              <a:t> Native Gravitational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0385E-21FF-C15A-4678-8D3D70F96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24747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The </a:t>
            </a:r>
            <a:r>
              <a:rPr lang="en-US" err="1"/>
              <a:t>Mujoco</a:t>
            </a:r>
            <a:r>
              <a:rPr lang="en-US"/>
              <a:t> Simulation automatically models gravity and its impact on the linked manipulator </a:t>
            </a:r>
          </a:p>
          <a:p>
            <a:r>
              <a:rPr lang="en-US"/>
              <a:t>The video demonstrates the motion of each joint and link due to gravity and the impact of the other links in the system</a:t>
            </a:r>
          </a:p>
        </p:txBody>
      </p:sp>
      <p:pic>
        <p:nvPicPr>
          <p:cNvPr id="5" name="download1">
            <a:hlinkClick r:id="" action="ppaction://media"/>
            <a:extLst>
              <a:ext uri="{FF2B5EF4-FFF2-40B4-BE49-F238E27FC236}">
                <a16:creationId xmlns:a16="http://schemas.microsoft.com/office/drawing/2014/main" id="{89BEFBA4-9C5F-9D66-FC88-55E61FE9FDF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094288" y="2030002"/>
            <a:ext cx="5731267" cy="4347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656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DB446-13F3-650D-7DC7-64C749C14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Visualizing Kinematics with </a:t>
            </a:r>
            <a:r>
              <a:rPr lang="en-US" err="1"/>
              <a:t>Mujoco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69788-0A10-7187-9BFB-BBF5440F9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44949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We can also control the dynamics of the manipulator with </a:t>
            </a:r>
            <a:r>
              <a:rPr lang="en-US" err="1"/>
              <a:t>Mujoco</a:t>
            </a:r>
          </a:p>
          <a:p>
            <a:r>
              <a:rPr lang="en-US"/>
              <a:t>Here we demonstrate the result of the rotating the first revolute joint of the system at a constant rate</a:t>
            </a:r>
          </a:p>
          <a:p>
            <a:endParaRPr lang="en-US"/>
          </a:p>
        </p:txBody>
      </p:sp>
      <p:pic>
        <p:nvPicPr>
          <p:cNvPr id="4" name="download_joint1">
            <a:hlinkClick r:id="" action="ppaction://media"/>
            <a:extLst>
              <a:ext uri="{FF2B5EF4-FFF2-40B4-BE49-F238E27FC236}">
                <a16:creationId xmlns:a16="http://schemas.microsoft.com/office/drawing/2014/main" id="{10038CB4-B255-4E38-7C96-05EF505CCF3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923050" y="1910137"/>
            <a:ext cx="5577156" cy="4185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45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B4CFF-0DE3-7B75-EA6E-B5DC29459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Modeling the 6-DOF Computationally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A4BE6-DF79-2891-1AE9-1E2E19B33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A DH table is input to the program using symbolic variables for the revolute and prismatic links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Our script then derives analytical solutions for the equations of motions in python</a:t>
            </a:r>
          </a:p>
          <a:p>
            <a:pPr lvl="1" indent="-285750">
              <a:buFont typeface="Courier New"/>
              <a:buChar char="o"/>
            </a:pPr>
            <a:r>
              <a:rPr lang="en-US">
                <a:ea typeface="+mn-lt"/>
                <a:cs typeface="+mn-lt"/>
              </a:rPr>
              <a:t>The analytical solution was derived using </a:t>
            </a:r>
            <a:r>
              <a:rPr lang="en-US" err="1">
                <a:ea typeface="+mn-lt"/>
                <a:cs typeface="+mn-lt"/>
              </a:rPr>
              <a:t>SymPy</a:t>
            </a:r>
            <a:r>
              <a:rPr lang="en-US">
                <a:ea typeface="+mn-lt"/>
                <a:cs typeface="+mn-lt"/>
              </a:rPr>
              <a:t> - a library for symbolic mathematics</a:t>
            </a:r>
            <a:endParaRPr lang="en-US" sz="2800"/>
          </a:p>
          <a:p>
            <a:pPr>
              <a:buFont typeface="Arial"/>
            </a:pPr>
            <a:r>
              <a:rPr lang="en-US"/>
              <a:t>There are benefits to solving the system analytically (as opposed to numerically)</a:t>
            </a:r>
          </a:p>
          <a:p>
            <a:pPr lvl="1" indent="-285750">
              <a:buFont typeface="Courier New"/>
              <a:buChar char="o"/>
            </a:pPr>
            <a:r>
              <a:rPr lang="en-US"/>
              <a:t>Only have to derive the solution once</a:t>
            </a:r>
          </a:p>
          <a:p>
            <a:pPr lvl="1" indent="-285750">
              <a:buFont typeface="Courier New"/>
              <a:buChar char="o"/>
            </a:pPr>
            <a:r>
              <a:rPr lang="en-US"/>
              <a:t>Easier to analyze than a numerical solution</a:t>
            </a:r>
          </a:p>
          <a:p>
            <a:endParaRPr lang="en-US"/>
          </a:p>
          <a:p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5792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28962-A6E1-E6CD-CB68-683A0A33C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Deriving the Equations of Motions</a:t>
            </a:r>
            <a:br>
              <a:rPr lang="en-US"/>
            </a:br>
            <a:r>
              <a:rPr lang="en-US"/>
              <a:t>Forward and Inverse Kinematics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AC26D-9DED-C0B8-D3AF-C4743F457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/>
              <a:t>For a given DH table and we assume that the only force acting upon the system is gravity, then the equations of motion can be modeling symbolically and are calculated using the </a:t>
            </a:r>
            <a:r>
              <a:rPr lang="en-US" err="1"/>
              <a:t>Lagrangian</a:t>
            </a:r>
            <a:endParaRPr lang="en-US"/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/>
              <a:t>Homogeneous Transform (H)</a:t>
            </a:r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/>
              <a:t>Jacobian Matrix (J)</a:t>
            </a:r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/>
              <a:t>Inertia Tensor D(q)</a:t>
            </a:r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Christoffel symbols c(</a:t>
            </a:r>
            <a:r>
              <a:rPr lang="en-US" err="1">
                <a:ea typeface="+mn-lt"/>
                <a:cs typeface="+mn-lt"/>
              </a:rPr>
              <a:t>i,j,k</a:t>
            </a:r>
            <a:r>
              <a:rPr lang="en-US">
                <a:ea typeface="+mn-lt"/>
                <a:cs typeface="+mn-lt"/>
              </a:rPr>
              <a:t>)</a:t>
            </a:r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/>
              <a:t>Gravity vector g(q)</a:t>
            </a:r>
          </a:p>
          <a:p>
            <a:pPr indent="-285750"/>
            <a:r>
              <a:rPr lang="en-US"/>
              <a:t>Calculating Homogeneous transformations, Jacobians and equations of motion symbolically also allows us to calculate the inverse kinematics of a system to drive the manipulator a specified state if such a solution exists</a:t>
            </a:r>
          </a:p>
        </p:txBody>
      </p:sp>
    </p:spTree>
    <p:extLst>
      <p:ext uri="{BB962C8B-B14F-4D97-AF65-F5344CB8AC3E}">
        <p14:creationId xmlns:p14="http://schemas.microsoft.com/office/powerpoint/2010/main" val="2273919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A8B7B-AF51-BD17-7AE9-506AF5F1C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Symbolic Kinematic Equations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E54BA70-99CF-BF4F-40DD-DF7A2B1449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5320" y="1471649"/>
            <a:ext cx="9470293" cy="2227447"/>
          </a:xfrm>
          <a:prstGeom prst="rect">
            <a:avLst/>
          </a:prstGeom>
        </p:spPr>
      </p:pic>
      <p:pic>
        <p:nvPicPr>
          <p:cNvPr id="5" name="Picture 4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D63CE244-18CD-1A01-5102-4A34833F6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37" y="3925358"/>
            <a:ext cx="7991232" cy="22506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8EFE669-56B4-B7B5-26F0-85D04A834987}"/>
              </a:ext>
            </a:extLst>
          </p:cNvPr>
          <p:cNvSpPr txBox="1"/>
          <p:nvPr/>
        </p:nvSpPr>
        <p:spPr>
          <a:xfrm>
            <a:off x="8708571" y="4310743"/>
            <a:ext cx="3207657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Symbolic inverse kinematics was too verbose given the many orientations and positions of a theoretical 6dof robot, used numerical instead</a:t>
            </a:r>
          </a:p>
        </p:txBody>
      </p:sp>
    </p:spTree>
    <p:extLst>
      <p:ext uri="{BB962C8B-B14F-4D97-AF65-F5344CB8AC3E}">
        <p14:creationId xmlns:p14="http://schemas.microsoft.com/office/powerpoint/2010/main" val="3182903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21A49-61B3-402B-4441-8CF0727E4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Full Equations of Motion </a:t>
            </a:r>
          </a:p>
        </p:txBody>
      </p:sp>
      <p:pic>
        <p:nvPicPr>
          <p:cNvPr id="8" name="Content Placeholder 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4D300B88-FFF4-11DE-FAD4-1C101833E8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7286" y="3974082"/>
            <a:ext cx="10515600" cy="1070424"/>
          </a:xfrm>
          <a:prstGeom prst="rect">
            <a:avLst/>
          </a:prstGeom>
        </p:spPr>
      </p:pic>
      <p:pic>
        <p:nvPicPr>
          <p:cNvPr id="5" name="Picture 4" descr="A black and white background with many white numbers&#10;&#10;AI-generated content may be incorrect.">
            <a:extLst>
              <a:ext uri="{FF2B5EF4-FFF2-40B4-BE49-F238E27FC236}">
                <a16:creationId xmlns:a16="http://schemas.microsoft.com/office/drawing/2014/main" id="{89334E08-0FA6-C29C-640E-36B18373F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077" y="1532834"/>
            <a:ext cx="5969001" cy="2278100"/>
          </a:xfrm>
          <a:prstGeom prst="rect">
            <a:avLst/>
          </a:prstGeom>
        </p:spPr>
      </p:pic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F4B52706-6C81-9A9C-0722-36C22BB8D5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0770" y="1528039"/>
            <a:ext cx="5119078" cy="2141152"/>
          </a:xfrm>
          <a:prstGeom prst="rect">
            <a:avLst/>
          </a:prstGeom>
        </p:spPr>
      </p:pic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74961612-59AD-A3E2-286A-70D8FBC677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692" y="5341430"/>
            <a:ext cx="11508154" cy="1313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8687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7D03296-BABA-47AD-A5D5-ED1567270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600E62-1B9F-95F9-B52B-0B58D227E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061"/>
            <a:ext cx="10515600" cy="90336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/>
              <a:t>Mujoco Inverse Kinematics</a:t>
            </a: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84A8429-F65A-490D-96E4-1158D3E8A0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1396083"/>
            <a:ext cx="10515599" cy="822960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F022291-A82B-4D23-A1E0-5F9BD68466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041136" y="1859832"/>
            <a:ext cx="109728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Picture 4" descr="https://alefram.github.io/images/robotCircle.gif">
            <a:extLst>
              <a:ext uri="{FF2B5EF4-FFF2-40B4-BE49-F238E27FC236}">
                <a16:creationId xmlns:a16="http://schemas.microsoft.com/office/drawing/2014/main" id="{49B260A5-0E92-6030-BE23-0C88DF464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411685"/>
            <a:ext cx="5140661" cy="3855495"/>
          </a:xfrm>
          <a:prstGeom prst="rect">
            <a:avLst/>
          </a:prstGeom>
        </p:spPr>
      </p:pic>
      <p:pic>
        <p:nvPicPr>
          <p:cNvPr id="4" name="Content Placeholder 3" descr="https://alefram.github.io/images/robot.gif">
            <a:extLst>
              <a:ext uri="{FF2B5EF4-FFF2-40B4-BE49-F238E27FC236}">
                <a16:creationId xmlns:a16="http://schemas.microsoft.com/office/drawing/2014/main" id="{743B42D9-0597-B94A-11A4-C3CF1DCDF9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13142" y="2411687"/>
            <a:ext cx="5140656" cy="3855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690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46E75-2A0D-F0E2-1EEB-220EB0C82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2FC45-AE45-3A5A-8C03-7FF989346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[1] </a:t>
            </a:r>
            <a:r>
              <a:rPr lang="en-US" dirty="0">
                <a:hlinkClick r:id="rId2" tooltip="https://colab.research.google.com/github/google-deepmind/mujoco/blob/main/python/tutorial.ipynb"/>
              </a:rPr>
              <a:t>https://colab.research.google.com/github/google-deepmind/mujoco/blob/main/python/tutorial.ipynb</a:t>
            </a:r>
            <a:endParaRPr lang="en-US" dirty="0"/>
          </a:p>
          <a:p>
            <a:r>
              <a:rPr lang="en-US" dirty="0"/>
              <a:t>[2] </a:t>
            </a:r>
            <a:r>
              <a:rPr lang="en-US" dirty="0">
                <a:hlinkClick r:id="rId3" tooltip="https://alefram.github.io/posts/basic-inverse-kinematics-in-mujoco"/>
              </a:rPr>
              <a:t>https://alefram.github.io/posts/Basic-inverse-kinematics-in-Mujoco</a:t>
            </a:r>
            <a:endParaRPr lang="en-US" dirty="0"/>
          </a:p>
          <a:p>
            <a:r>
              <a:rPr lang="en-US" dirty="0"/>
              <a:t>[3] </a:t>
            </a:r>
            <a:r>
              <a:rPr lang="en-US" dirty="0">
                <a:hlinkClick r:id="rId4" tooltip="https://robotics101-viscircuit.web.app/robotics/dh-model"/>
              </a:rPr>
              <a:t>https://robotics101-viscircuit.web.app/robotics/dh-model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012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887</Words>
  <Application>Microsoft Office PowerPoint</Application>
  <PresentationFormat>Widescreen</PresentationFormat>
  <Paragraphs>74</Paragraphs>
  <Slides>14</Slides>
  <Notes>0</Notes>
  <HiddenSlides>0</HiddenSlides>
  <MMClips>2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Kinematic Analysis, Modeling, and Inverse Kinematics for a 6-DOF Manipulator </vt:lpstr>
      <vt:lpstr>Denavit-Hartenberg (DH) Parameters</vt:lpstr>
      <vt:lpstr>Forward Kinematics &amp; The Jacobian</vt:lpstr>
      <vt:lpstr>Inverse Kinematics of a 6-DOF</vt:lpstr>
      <vt:lpstr>Equations of Motion</vt:lpstr>
      <vt:lpstr>Visualizing the 6-DOF with Mujoco </vt:lpstr>
      <vt:lpstr>Mujoco Native Gravitational Modeling</vt:lpstr>
      <vt:lpstr>Visualizing Kinematics with Mujoco</vt:lpstr>
      <vt:lpstr>Modeling the 6-DOF Computationally</vt:lpstr>
      <vt:lpstr>Deriving the Equations of Motions Forward and Inverse Kinematics</vt:lpstr>
      <vt:lpstr>Symbolic Kinematic Equations</vt:lpstr>
      <vt:lpstr>Full Equations of Motion </vt:lpstr>
      <vt:lpstr>Mujoco Inverse Kinematics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Kinematic Analysis, Modeling, and Inverse Kinematics for a 6-DOF Manipulator </dc:title>
  <dc:creator/>
  <cp:lastModifiedBy>Savari Datta</cp:lastModifiedBy>
  <cp:revision>2</cp:revision>
  <dcterms:created xsi:type="dcterms:W3CDTF">2026-04-26T11:53:19Z</dcterms:created>
  <dcterms:modified xsi:type="dcterms:W3CDTF">2026-04-27T03:18:45Z</dcterms:modified>
</cp:coreProperties>
</file>